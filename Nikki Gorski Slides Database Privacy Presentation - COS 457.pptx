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Montserrat"/>
      <p:bold r:id="rId16"/>
      <p:boldItalic r:id="rId17"/>
    </p:embeddedFont>
    <p:embeddedFont>
      <p:font typeface="Lato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483c424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a483c4246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483c4246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483c42460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483c4246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483c42460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483c4246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a483c42460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483c4246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483c42460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483c4246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483c42460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483c4246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a483c42460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483c4246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a483c42460_0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-246525"/>
            <a:ext cx="19979640" cy="10518458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0" l="0" r="0" t="-9331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2487700" y="3127350"/>
            <a:ext cx="5800293" cy="7271710"/>
          </a:xfrm>
          <a:custGeom>
            <a:rect b="b" l="l" r="r" t="t"/>
            <a:pathLst>
              <a:path extrusionOk="0" h="7271710" w="7365452">
                <a:moveTo>
                  <a:pt x="0" y="0"/>
                </a:moveTo>
                <a:lnTo>
                  <a:pt x="7365452" y="0"/>
                </a:lnTo>
                <a:lnTo>
                  <a:pt x="7365452" y="7271710"/>
                </a:lnTo>
                <a:lnTo>
                  <a:pt x="0" y="7271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flipH="1" rot="10800000">
            <a:off x="10922548" y="0"/>
            <a:ext cx="7365452" cy="7271710"/>
          </a:xfrm>
          <a:custGeom>
            <a:rect b="b" l="l" r="r" t="t"/>
            <a:pathLst>
              <a:path extrusionOk="0" h="7271710" w="7365452">
                <a:moveTo>
                  <a:pt x="0" y="7271710"/>
                </a:moveTo>
                <a:lnTo>
                  <a:pt x="7365452" y="7271710"/>
                </a:lnTo>
                <a:lnTo>
                  <a:pt x="7365452" y="0"/>
                </a:lnTo>
                <a:lnTo>
                  <a:pt x="0" y="0"/>
                </a:lnTo>
                <a:lnTo>
                  <a:pt x="0" y="7271710"/>
                </a:lnTo>
                <a:close/>
              </a:path>
            </a:pathLst>
          </a:custGeom>
          <a:blipFill rotWithShape="1">
            <a:blip r:embed="rId5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 txBox="1"/>
          <p:nvPr/>
        </p:nvSpPr>
        <p:spPr>
          <a:xfrm>
            <a:off x="1028700" y="2777363"/>
            <a:ext cx="135765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DATABASE_SECURITY &amp; PRIVACY_PRESERVING TECHNOLOGIES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28700" y="6990722"/>
            <a:ext cx="9163896" cy="504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6CD4F3"/>
                </a:solidFill>
                <a:latin typeface="Lato"/>
                <a:ea typeface="Lato"/>
                <a:cs typeface="Lato"/>
                <a:sym typeface="Lato"/>
              </a:rPr>
              <a:t>UNIVERSITY OF SOUTHERN MAINE - COS 457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997964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30" l="0" r="0" t="-9331"/>
            </a:stretch>
          </a:blipFill>
          <a:ln>
            <a:noFill/>
          </a:ln>
        </p:spPr>
      </p:sp>
      <p:sp>
        <p:nvSpPr>
          <p:cNvPr id="94" name="Google Shape;94;p14"/>
          <p:cNvSpPr/>
          <p:nvPr/>
        </p:nvSpPr>
        <p:spPr>
          <a:xfrm flipH="1">
            <a:off x="0" y="3015290"/>
            <a:ext cx="7365452" cy="7271710"/>
          </a:xfrm>
          <a:custGeom>
            <a:rect b="b" l="l" r="r" t="t"/>
            <a:pathLst>
              <a:path extrusionOk="0" h="7271710" w="7365452">
                <a:moveTo>
                  <a:pt x="7365452" y="0"/>
                </a:moveTo>
                <a:lnTo>
                  <a:pt x="0" y="0"/>
                </a:lnTo>
                <a:lnTo>
                  <a:pt x="0" y="7271710"/>
                </a:lnTo>
                <a:lnTo>
                  <a:pt x="7365452" y="7271710"/>
                </a:lnTo>
                <a:lnTo>
                  <a:pt x="7365452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4"/>
          <p:cNvSpPr/>
          <p:nvPr/>
        </p:nvSpPr>
        <p:spPr>
          <a:xfrm flipH="1" rot="10800000">
            <a:off x="10922548" y="0"/>
            <a:ext cx="7365452" cy="7271710"/>
          </a:xfrm>
          <a:custGeom>
            <a:rect b="b" l="l" r="r" t="t"/>
            <a:pathLst>
              <a:path extrusionOk="0" h="7271710" w="7365452">
                <a:moveTo>
                  <a:pt x="0" y="7271710"/>
                </a:moveTo>
                <a:lnTo>
                  <a:pt x="7365452" y="7271710"/>
                </a:lnTo>
                <a:lnTo>
                  <a:pt x="7365452" y="0"/>
                </a:lnTo>
                <a:lnTo>
                  <a:pt x="0" y="0"/>
                </a:lnTo>
                <a:lnTo>
                  <a:pt x="0" y="7271710"/>
                </a:lnTo>
                <a:close/>
              </a:path>
            </a:pathLst>
          </a:custGeom>
          <a:blipFill rotWithShape="1">
            <a:blip r:embed="rId5">
              <a:alphaModFix amt="6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4"/>
          <p:cNvSpPr txBox="1"/>
          <p:nvPr/>
        </p:nvSpPr>
        <p:spPr>
          <a:xfrm>
            <a:off x="4292451" y="1721059"/>
            <a:ext cx="9703098" cy="66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MEET OUR AWESOME TEAM</a:t>
            </a:r>
            <a:endParaRPr/>
          </a:p>
        </p:txBody>
      </p:sp>
      <p:grpSp>
        <p:nvGrpSpPr>
          <p:cNvPr id="97" name="Google Shape;97;p14"/>
          <p:cNvGrpSpPr/>
          <p:nvPr/>
        </p:nvGrpSpPr>
        <p:grpSpPr>
          <a:xfrm>
            <a:off x="3363703" y="3635855"/>
            <a:ext cx="4841092" cy="887658"/>
            <a:chOff x="0" y="0"/>
            <a:chExt cx="6454790" cy="1183544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1267517" cy="1183544"/>
            </a:xfrm>
            <a:custGeom>
              <a:rect b="b" l="l" r="r" t="t"/>
              <a:pathLst>
                <a:path extrusionOk="0" h="1183544" w="1267517">
                  <a:moveTo>
                    <a:pt x="0" y="0"/>
                  </a:moveTo>
                  <a:lnTo>
                    <a:pt x="1267517" y="0"/>
                  </a:lnTo>
                  <a:lnTo>
                    <a:pt x="1267517" y="1183544"/>
                  </a:lnTo>
                  <a:lnTo>
                    <a:pt x="0" y="11835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9" name="Google Shape;99;p14"/>
            <p:cNvSpPr txBox="1"/>
            <p:nvPr/>
          </p:nvSpPr>
          <p:spPr>
            <a:xfrm>
              <a:off x="1544489" y="160607"/>
              <a:ext cx="4910301" cy="795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Aubin Mugisha</a:t>
              </a:r>
              <a:endParaRPr/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3363703" y="5059264"/>
            <a:ext cx="4841092" cy="887658"/>
            <a:chOff x="0" y="0"/>
            <a:chExt cx="6454790" cy="1183544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267517" cy="1183544"/>
            </a:xfrm>
            <a:custGeom>
              <a:rect b="b" l="l" r="r" t="t"/>
              <a:pathLst>
                <a:path extrusionOk="0" h="1183544" w="1267517">
                  <a:moveTo>
                    <a:pt x="0" y="0"/>
                  </a:moveTo>
                  <a:lnTo>
                    <a:pt x="1267517" y="0"/>
                  </a:lnTo>
                  <a:lnTo>
                    <a:pt x="1267517" y="1183544"/>
                  </a:lnTo>
                  <a:lnTo>
                    <a:pt x="0" y="11835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4"/>
            <p:cNvSpPr txBox="1"/>
            <p:nvPr/>
          </p:nvSpPr>
          <p:spPr>
            <a:xfrm>
              <a:off x="1544489" y="160607"/>
              <a:ext cx="4910301" cy="795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Nikki Gorski</a:t>
              </a:r>
              <a:endParaRPr/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3363703" y="6482672"/>
            <a:ext cx="5999473" cy="887658"/>
            <a:chOff x="0" y="0"/>
            <a:chExt cx="7999298" cy="1183544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1267517" cy="1183544"/>
            </a:xfrm>
            <a:custGeom>
              <a:rect b="b" l="l" r="r" t="t"/>
              <a:pathLst>
                <a:path extrusionOk="0" h="1183544" w="1267517">
                  <a:moveTo>
                    <a:pt x="0" y="0"/>
                  </a:moveTo>
                  <a:lnTo>
                    <a:pt x="1267517" y="0"/>
                  </a:lnTo>
                  <a:lnTo>
                    <a:pt x="1267517" y="1183544"/>
                  </a:lnTo>
                  <a:lnTo>
                    <a:pt x="0" y="11835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5" name="Google Shape;105;p14"/>
            <p:cNvSpPr txBox="1"/>
            <p:nvPr/>
          </p:nvSpPr>
          <p:spPr>
            <a:xfrm>
              <a:off x="1544498" y="160604"/>
              <a:ext cx="6454800" cy="7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Sarah Kayembe</a:t>
              </a:r>
              <a:endParaRPr/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10083204" y="3635855"/>
            <a:ext cx="4841092" cy="887658"/>
            <a:chOff x="0" y="0"/>
            <a:chExt cx="6454790" cy="1183544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1267517" cy="1183544"/>
            </a:xfrm>
            <a:custGeom>
              <a:rect b="b" l="l" r="r" t="t"/>
              <a:pathLst>
                <a:path extrusionOk="0" h="1183544" w="1267517">
                  <a:moveTo>
                    <a:pt x="0" y="0"/>
                  </a:moveTo>
                  <a:lnTo>
                    <a:pt x="1267517" y="0"/>
                  </a:lnTo>
                  <a:lnTo>
                    <a:pt x="1267517" y="1183544"/>
                  </a:lnTo>
                  <a:lnTo>
                    <a:pt x="0" y="11835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8" name="Google Shape;108;p14"/>
            <p:cNvSpPr txBox="1"/>
            <p:nvPr/>
          </p:nvSpPr>
          <p:spPr>
            <a:xfrm>
              <a:off x="1544489" y="160607"/>
              <a:ext cx="4910301" cy="795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99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Yunlong Li</a:t>
              </a:r>
              <a:endParaRPr/>
            </a:p>
          </p:txBody>
        </p:sp>
      </p:grpSp>
      <p:sp>
        <p:nvSpPr>
          <p:cNvPr id="109" name="Google Shape;109;p14"/>
          <p:cNvSpPr/>
          <p:nvPr/>
        </p:nvSpPr>
        <p:spPr>
          <a:xfrm>
            <a:off x="10083204" y="5002627"/>
            <a:ext cx="992010" cy="926290"/>
          </a:xfrm>
          <a:custGeom>
            <a:rect b="b" l="l" r="r" t="t"/>
            <a:pathLst>
              <a:path extrusionOk="0" h="926290" w="992010">
                <a:moveTo>
                  <a:pt x="0" y="0"/>
                </a:moveTo>
                <a:lnTo>
                  <a:pt x="992010" y="0"/>
                </a:lnTo>
                <a:lnTo>
                  <a:pt x="992010" y="926290"/>
                </a:lnTo>
                <a:lnTo>
                  <a:pt x="0" y="9262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11291984" y="5113832"/>
            <a:ext cx="4243609" cy="637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Kristina Zbinden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1693675" y="1138526"/>
            <a:ext cx="5989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Motivations</a:t>
            </a:r>
            <a:endParaRPr b="1"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6" name="Google Shape;116;p15"/>
          <p:cNvCxnSpPr/>
          <p:nvPr/>
        </p:nvCxnSpPr>
        <p:spPr>
          <a:xfrm>
            <a:off x="1076325" y="2736078"/>
            <a:ext cx="0" cy="6522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1076325" y="4725726"/>
            <a:ext cx="0" cy="2542800"/>
          </a:xfrm>
          <a:prstGeom prst="straightConnector1">
            <a:avLst/>
          </a:prstGeom>
          <a:noFill/>
          <a:ln cap="rnd" cmpd="sng" w="95250">
            <a:solidFill>
              <a:srgbClr val="0274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5"/>
          <p:cNvSpPr txBox="1"/>
          <p:nvPr/>
        </p:nvSpPr>
        <p:spPr>
          <a:xfrm>
            <a:off x="1693676" y="3233926"/>
            <a:ext cx="66894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Financial records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Medical data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Personal Identifiable Information (PII)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693676" y="2559613"/>
            <a:ext cx="491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Sensitive Information at Risk</a:t>
            </a:r>
            <a:endParaRPr sz="2000"/>
          </a:p>
        </p:txBody>
      </p:sp>
      <p:sp>
        <p:nvSpPr>
          <p:cNvPr id="120" name="Google Shape;120;p15"/>
          <p:cNvSpPr txBox="1"/>
          <p:nvPr/>
        </p:nvSpPr>
        <p:spPr>
          <a:xfrm>
            <a:off x="1693676" y="5410854"/>
            <a:ext cx="66894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HIPAA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FERPA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GDPR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CCPA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693676" y="4736540"/>
            <a:ext cx="491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Legal Responsibility</a:t>
            </a:r>
            <a:endParaRPr sz="2000"/>
          </a:p>
        </p:txBody>
      </p:sp>
      <p:sp>
        <p:nvSpPr>
          <p:cNvPr id="122" name="Google Shape;122;p15"/>
          <p:cNvSpPr txBox="1"/>
          <p:nvPr/>
        </p:nvSpPr>
        <p:spPr>
          <a:xfrm>
            <a:off x="1693676" y="8040481"/>
            <a:ext cx="66894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Financial loss-avg of $3.86 million per breach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Reputational damage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Loss of customer trust</a:t>
            </a:r>
            <a:endParaRPr sz="2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693676" y="7366168"/>
            <a:ext cx="491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Consequences of Breaches</a:t>
            </a:r>
            <a:endParaRPr sz="2000"/>
          </a:p>
        </p:txBody>
      </p:sp>
      <p:pic>
        <p:nvPicPr>
          <p:cNvPr id="124" name="Google Shape;124;p15" title="securityintelligence_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2876" y="3216061"/>
            <a:ext cx="9600125" cy="3790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/>
        </p:nvSpPr>
        <p:spPr>
          <a:xfrm>
            <a:off x="1615599" y="3268578"/>
            <a:ext cx="9565500" cy="4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●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Used mainly in government &amp; military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●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Security = basic authentication + physical access control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Locked server rooms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Physical keys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●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Early Models of Confidentiality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00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ato"/>
              <a:buChar char="○"/>
            </a:pPr>
            <a:r>
              <a:rPr lang="en-US" sz="2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Information security mindset: "classified vs unclassified"</a:t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662445" y="795001"/>
            <a:ext cx="5989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Early History (1960s-1980s)</a:t>
            </a:r>
            <a:endParaRPr b="1"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" name="Google Shape;131;p16"/>
          <p:cNvCxnSpPr/>
          <p:nvPr/>
        </p:nvCxnSpPr>
        <p:spPr>
          <a:xfrm>
            <a:off x="1076325" y="2736078"/>
            <a:ext cx="0" cy="6522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16"/>
          <p:cNvCxnSpPr/>
          <p:nvPr/>
        </p:nvCxnSpPr>
        <p:spPr>
          <a:xfrm>
            <a:off x="1076325" y="4725726"/>
            <a:ext cx="0" cy="2542800"/>
          </a:xfrm>
          <a:prstGeom prst="straightConnector1">
            <a:avLst/>
          </a:prstGeom>
          <a:noFill/>
          <a:ln cap="rnd" cmpd="sng" w="95250">
            <a:solidFill>
              <a:srgbClr val="0274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16"/>
          <p:cNvSpPr txBox="1"/>
          <p:nvPr/>
        </p:nvSpPr>
        <p:spPr>
          <a:xfrm>
            <a:off x="1693676" y="2559613"/>
            <a:ext cx="4916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Database Security Origins</a:t>
            </a:r>
            <a:endParaRPr sz="1900"/>
          </a:p>
        </p:txBody>
      </p:sp>
      <p:pic>
        <p:nvPicPr>
          <p:cNvPr id="134" name="Google Shape;134;p16" title="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1924" y="2452750"/>
            <a:ext cx="6802101" cy="3826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/>
        </p:nvSpPr>
        <p:spPr>
          <a:xfrm>
            <a:off x="1662445" y="795001"/>
            <a:ext cx="5989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Early History (1960s-1980s)</a:t>
            </a:r>
            <a:endParaRPr b="1"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" name="Google Shape;140;p17"/>
          <p:cNvCxnSpPr/>
          <p:nvPr/>
        </p:nvCxnSpPr>
        <p:spPr>
          <a:xfrm>
            <a:off x="1076325" y="2736078"/>
            <a:ext cx="0" cy="6522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7"/>
          <p:cNvCxnSpPr/>
          <p:nvPr/>
        </p:nvCxnSpPr>
        <p:spPr>
          <a:xfrm>
            <a:off x="1076325" y="4725726"/>
            <a:ext cx="0" cy="2542800"/>
          </a:xfrm>
          <a:prstGeom prst="straightConnector1">
            <a:avLst/>
          </a:prstGeom>
          <a:noFill/>
          <a:ln cap="rnd" cmpd="sng" w="95250">
            <a:solidFill>
              <a:srgbClr val="0274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7"/>
          <p:cNvSpPr txBox="1"/>
          <p:nvPr/>
        </p:nvSpPr>
        <p:spPr>
          <a:xfrm>
            <a:off x="1693676" y="2559613"/>
            <a:ext cx="491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Bell–LaPadula &amp; Access Control Models (1973)</a:t>
            </a:r>
            <a:r>
              <a:rPr lang="en-US" sz="1100">
                <a:solidFill>
                  <a:schemeClr val="dk1"/>
                </a:solidFill>
              </a:rPr>
              <a:t>Discretionary access control</a:t>
            </a:r>
            <a:endParaRPr sz="1900"/>
          </a:p>
        </p:txBody>
      </p:sp>
      <p:sp>
        <p:nvSpPr>
          <p:cNvPr id="143" name="Google Shape;143;p17"/>
          <p:cNvSpPr txBox="1"/>
          <p:nvPr/>
        </p:nvSpPr>
        <p:spPr>
          <a:xfrm>
            <a:off x="1615599" y="3851741"/>
            <a:ext cx="9565500" cy="5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divides entities into </a:t>
            </a:r>
            <a:r>
              <a:rPr lang="en-US">
                <a:solidFill>
                  <a:schemeClr val="dk1"/>
                </a:solidFill>
              </a:rPr>
              <a:t>Discretionary access control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Subjects: users, processes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Objects: files, directories, ports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Multi-level security (MLS)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Rules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Mandatory access control(MAC)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■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Simple Security Property (no read up)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■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*-Property (no write down)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Discretionary access control(DAC)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■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Discretionary Security Property (access matrix)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7"/>
          <p:cNvSpPr/>
          <p:nvPr/>
        </p:nvSpPr>
        <p:spPr>
          <a:xfrm flipH="1" rot="10800000">
            <a:off x="10922548" y="0"/>
            <a:ext cx="7365452" cy="7271710"/>
          </a:xfrm>
          <a:custGeom>
            <a:rect b="b" l="l" r="r" t="t"/>
            <a:pathLst>
              <a:path extrusionOk="0" h="7271710" w="7365452">
                <a:moveTo>
                  <a:pt x="0" y="7271710"/>
                </a:moveTo>
                <a:lnTo>
                  <a:pt x="7365452" y="7271710"/>
                </a:lnTo>
                <a:lnTo>
                  <a:pt x="7365452" y="0"/>
                </a:lnTo>
                <a:lnTo>
                  <a:pt x="0" y="0"/>
                </a:lnTo>
                <a:lnTo>
                  <a:pt x="0" y="727171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/>
        </p:nvSpPr>
        <p:spPr>
          <a:xfrm>
            <a:off x="1615599" y="3346333"/>
            <a:ext cx="95655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ato"/>
              <a:buChar char="●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Role-Based Access Control (RBAC)</a:t>
            </a:r>
            <a:r>
              <a:rPr lang="en-US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(1977)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ato"/>
              <a:buChar char="○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introduction of private-public keys instead of just a single key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ato"/>
              <a:buChar char="●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Expansion of encryption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ato"/>
              <a:buChar char="○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RSA(Rivest, Shamir, and Adleman)</a:t>
            </a:r>
            <a:r>
              <a:rPr b="1" lang="en-US" sz="1600">
                <a:solidFill>
                  <a:schemeClr val="dk1"/>
                </a:solidFill>
              </a:rPr>
              <a:t>(Rivest, Shamir, and Adleman) 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ato"/>
              <a:buChar char="○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 (Data encryption standard) </a:t>
            </a:r>
            <a:r>
              <a:rPr lang="en-US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2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1977)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ato"/>
              <a:buChar char="■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later became AES (2001)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ato"/>
              <a:buChar char="■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Government introduced encryption standard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ato"/>
              <a:buChar char="●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Early auditing/logging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937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Lato"/>
              <a:buChar char="○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Audit trails for recovery and misuse detection</a:t>
            </a:r>
            <a:endParaRPr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662452" y="795000"/>
            <a:ext cx="8935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Commercial Databases &amp; the 1990s Evolution</a:t>
            </a:r>
            <a:endParaRPr b="1"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>
            <a:off x="1076325" y="2736078"/>
            <a:ext cx="0" cy="6522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8"/>
          <p:cNvCxnSpPr/>
          <p:nvPr/>
        </p:nvCxnSpPr>
        <p:spPr>
          <a:xfrm>
            <a:off x="1076325" y="4725726"/>
            <a:ext cx="0" cy="2542800"/>
          </a:xfrm>
          <a:prstGeom prst="straightConnector1">
            <a:avLst/>
          </a:prstGeom>
          <a:noFill/>
          <a:ln cap="rnd" cmpd="sng" w="95250">
            <a:solidFill>
              <a:srgbClr val="02749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1615599" y="2782609"/>
            <a:ext cx="9565500" cy="6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●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Massive Growth in Breaches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○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157 breaches (2005) → 662 (2010) → 3500+ (2023)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○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ChoicePoint (2005, 2008)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○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TJX/TJMaxx (2007): 45.</a:t>
            </a: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 credit cards stolen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●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SQL Injection Becomes a Major Threat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○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Attackers inject malicious SQL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○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Dump entire DB contents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●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Security Research Expands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○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Database firewalls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○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Intrusion Detection Systems (IDS)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■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Network, Host, Signature-based, Anomaly-based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73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Lato"/>
              <a:buChar char="●"/>
            </a:pPr>
            <a:r>
              <a:rPr lang="en-US" sz="2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Stronger key management practices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662445" y="795001"/>
            <a:ext cx="5989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2000s: The Breach Era</a:t>
            </a:r>
            <a:endParaRPr b="1"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9" name="Google Shape;159;p19"/>
          <p:cNvCxnSpPr/>
          <p:nvPr/>
        </p:nvCxnSpPr>
        <p:spPr>
          <a:xfrm>
            <a:off x="1076325" y="2736078"/>
            <a:ext cx="0" cy="6522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19"/>
          <p:cNvCxnSpPr/>
          <p:nvPr/>
        </p:nvCxnSpPr>
        <p:spPr>
          <a:xfrm>
            <a:off x="1076325" y="4725726"/>
            <a:ext cx="0" cy="2542800"/>
          </a:xfrm>
          <a:prstGeom prst="straightConnector1">
            <a:avLst/>
          </a:prstGeom>
          <a:noFill/>
          <a:ln cap="rnd" cmpd="sng" w="95250">
            <a:solidFill>
              <a:srgbClr val="02749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1" name="Google Shape;1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7300" y="2612564"/>
            <a:ext cx="8184176" cy="460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1615600" y="2782599"/>
            <a:ext cx="10144800" cy="4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Modern Privacy Threats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Cloud computing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reidentification risks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Adversarial AI &amp; reconstruction attacks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Key Technologies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Homomorphic Encryption (compute on encrypted data)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Differential Privacy (noise added to prevent re-ID)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Secure Multi-Party Computation (joint computation without sharing inputs)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662452" y="795000"/>
            <a:ext cx="8799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2010s: Privacy-Preserving Computation</a:t>
            </a:r>
            <a:endParaRPr b="1"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1076325" y="2736078"/>
            <a:ext cx="0" cy="6522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1076325" y="4725726"/>
            <a:ext cx="0" cy="2542800"/>
          </a:xfrm>
          <a:prstGeom prst="straightConnector1">
            <a:avLst/>
          </a:prstGeom>
          <a:noFill/>
          <a:ln cap="rnd" cmpd="sng" w="95250">
            <a:solidFill>
              <a:srgbClr val="02749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0" name="Google Shape;170;p20" title="202-2023139_download-cloud-computi-cloud-computing-icon-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1678" y="2504492"/>
            <a:ext cx="523875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/>
        </p:nvSpPr>
        <p:spPr>
          <a:xfrm>
            <a:off x="1615600" y="4201630"/>
            <a:ext cx="10144800" cy="5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Trusted Execution Environments (TEEs)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Hardware isolations: Intel SGX, ARM TrustZone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Protect data during computation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Prevent OS, hypervisor, cloud admins from accessing sensitive data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Cloud-Scale TEEs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Azure Confidential Computing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AWS Nitro Enclaves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Federated Learning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 sent to devices; data never leaves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Only model updates are shared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1662452" y="795000"/>
            <a:ext cx="8799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2010s: Privacy-Preserving Computation</a:t>
            </a:r>
            <a:endParaRPr b="1"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7" name="Google Shape;177;p21"/>
          <p:cNvCxnSpPr/>
          <p:nvPr/>
        </p:nvCxnSpPr>
        <p:spPr>
          <a:xfrm>
            <a:off x="1076325" y="2736078"/>
            <a:ext cx="0" cy="6522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1"/>
          <p:cNvCxnSpPr/>
          <p:nvPr/>
        </p:nvCxnSpPr>
        <p:spPr>
          <a:xfrm>
            <a:off x="1076325" y="4725726"/>
            <a:ext cx="0" cy="2542800"/>
          </a:xfrm>
          <a:prstGeom prst="straightConnector1">
            <a:avLst/>
          </a:prstGeom>
          <a:noFill/>
          <a:ln cap="rnd" cmpd="sng" w="95250">
            <a:solidFill>
              <a:srgbClr val="02749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21"/>
          <p:cNvSpPr txBox="1"/>
          <p:nvPr/>
        </p:nvSpPr>
        <p:spPr>
          <a:xfrm>
            <a:off x="1751992" y="2637368"/>
            <a:ext cx="491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Trusted Execution &amp; Federated Learning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50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0" y="0"/>
            <a:ext cx="1997964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328" l="0" r="0" t="-9328"/>
            </a:stretch>
          </a:blipFill>
          <a:ln>
            <a:noFill/>
          </a:ln>
        </p:spPr>
      </p:sp>
      <p:sp>
        <p:nvSpPr>
          <p:cNvPr id="185" name="Google Shape;185;p22"/>
          <p:cNvSpPr txBox="1"/>
          <p:nvPr/>
        </p:nvSpPr>
        <p:spPr>
          <a:xfrm>
            <a:off x="1615600" y="3540712"/>
            <a:ext cx="10144800" cy="5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Threats Still Persist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SQL injection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DOS attacks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Mishandled data = reidentification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Modern Breach Statistics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8.2 billion+ records compromised in 2023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Why Privacy Tech Is Needed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Distributed systems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Multi-organization collaboration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Char char="○"/>
            </a:pPr>
            <a:r>
              <a:rPr lang="en-US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Cloud-computing/storage</a:t>
            </a:r>
            <a:endParaRPr sz="24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1662452" y="795000"/>
            <a:ext cx="8799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modern day- Relevance to Modern Databases</a:t>
            </a:r>
            <a:endParaRPr b="1" sz="5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7" name="Google Shape;187;p22"/>
          <p:cNvCxnSpPr/>
          <p:nvPr/>
        </p:nvCxnSpPr>
        <p:spPr>
          <a:xfrm>
            <a:off x="1076325" y="2736078"/>
            <a:ext cx="0" cy="6522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22"/>
          <p:cNvCxnSpPr/>
          <p:nvPr/>
        </p:nvCxnSpPr>
        <p:spPr>
          <a:xfrm>
            <a:off x="1076325" y="4725726"/>
            <a:ext cx="0" cy="2542800"/>
          </a:xfrm>
          <a:prstGeom prst="straightConnector1">
            <a:avLst/>
          </a:prstGeom>
          <a:noFill/>
          <a:ln cap="rnd" cmpd="sng" w="95250">
            <a:solidFill>
              <a:srgbClr val="02749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